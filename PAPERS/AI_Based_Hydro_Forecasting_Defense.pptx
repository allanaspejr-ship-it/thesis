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9" r:id="rId24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685800" y="77724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3100" b="1">
                <a:solidFill>
                  <a:srgbClr val="1F4E79"/>
                </a:solidFill>
              </a:rPr>
              <a:t>AI-Based Short-Term Generation Forecasting of Cascaded Hydroelectric Power Plants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685800" y="1755648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600" b="0">
                <a:solidFill>
                  <a:srgbClr val="475569"/>
                </a:solidFill>
              </a:rPr>
              <a:t>Undergraduate Thesis Defense | Allan T. Aspe Jr. | Adviser: Noel R. Estoperez | May 2026</a:t>
            </a:r>
          </a:p>
        </p:txBody>
      </p:sp>
      <p:sp>
        <p:nvSpPr>
          <p:cNvPr id="6" name="Panel"/>
          <p:cNvSpPr/>
          <p:nvPr/>
        </p:nvSpPr>
        <p:spPr>
          <a:xfrm>
            <a:off x="685800" y="2423160"/>
            <a:ext cx="10652760" cy="310896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Bullets"/>
          <p:cNvSpPr txBox="1"/>
          <p:nvPr/>
        </p:nvSpPr>
        <p:spPr>
          <a:xfrm>
            <a:off x="960120" y="274320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200">
                <a:solidFill>
                  <a:srgbClr val="243042"/>
                </a:solidFill>
              </a:rPr>
              <a:t>Focus: day-ahead generation forecasting for the Agus hydropower cascade</a:t>
            </a:r>
          </a:p>
          <a:p>
            <a:pPr marL="342900" indent="-228600">
              <a:buChar char="?"/>
            </a:pPr>
            <a:r>
              <a:rPr lang="en-US" sz="2200">
                <a:solidFill>
                  <a:srgbClr val="243042"/>
                </a:solidFill>
              </a:rPr>
              <a:t>Method: Radial Basis Function Neural Network (RBFNN)</a:t>
            </a:r>
          </a:p>
          <a:p>
            <a:pPr marL="342900" indent="-228600">
              <a:buChar char="?"/>
            </a:pPr>
            <a:r>
              <a:rPr lang="en-US" sz="2200">
                <a:solidFill>
                  <a:srgbClr val="243042"/>
                </a:solidFill>
              </a:rPr>
              <a:t>Purpose: support more reliable capacity nomination and operational planning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Presentation Outline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Chapter 1: Introduction, problem, objectives, and framework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Chapter 2: Related literature and research gaps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Chapter 3: Methodology and model development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Chapter 4: Results, benchmark comparison, and system output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Chapter 5: Conclusions and recommendations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Chapter 1: Background of the Study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Hydropower supports Philippine grid reliability and energy supply.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The Agus-Pulangi complex is a major Mindanao hydropower resource.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The Agus cascade includes Agus 1, 2, 4, 5, 6, and 7, with about 746.1 MW combined capacity.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Generation is hydraulically coupled: upstream releases affect downstream inflow, head, and output.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Statement of the Problem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Day-ahead capacity nomination for Agus 1 to Agus 7 is frequently unstable.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Actual generation depends on hydrologic and operational variables such as elevation, outflow, gates, rainfall, and unit availability.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Incomplete or inconsistent operational inputs can lead to conservative estimates and re-nominations.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A data-driven model is needed to forecast short-term generation under nonlinear cascade behavior.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Objectives of the Study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Develop an AI-based short-term generation forecasting framework for cascaded hydropower plants.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Clean and standardize historical operational and environmental data into an hourly time series.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Train and validate RBFNN models for the Agus cascade plants.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Evaluate performance using MAPE, MAE, RMSE, and R2.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Compare RBFNN results against Random Forest and XGBoost benchmark models.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Significance, Scope, and Limitations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study supports capacity nomination, short-term planning, and operational decision-making.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Scope covers Agus 1, Agus 2, Agus 4, Agus 5, Agus 6, and Agus 7.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Forecast horizon is short-term/day-ahead hourly generation forecasting.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Model performance depends on available historical data quality and recorded operational variables.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model is a decision-support tool, not a replacement for operator judgment or physical dispatch rules.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Theoretical and Conceptual Framework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Cascaded hydropower generation links upstream discharge to downstream generation potential.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Forecasting estimates future generation from current and historical operating conditions.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RBFNN maps nonlinear input-output relationships using radial basis functions and output weights.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The proposed system uses historical plant, hydrologic, temporal, and availability features to forecast generation.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Chapter 2: Review of Related Literature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Short-term forecasting is important for scheduling, market participation, and grid stability.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Cascaded systems are harder to model because upstream and downstream plants are hydraulically interdependent.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Traditional statistical approaches have limitations in nonlinear, multivariable operating conditions.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AI and machine learning models can capture complex patterns in noisy operational datasets.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RBFNNs are useful for nonlinear approximation, localized learning, and efficient training.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Research Gaps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Many studies treat cascaded hydropower mainly as an optimization problem rather than a forecasting problem.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There is limited work focused on one-day-ahead, hourly generation forecasting for cascaded hydropower systems.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RBFNNs are underused as the main architecture for hydropower generation forecasting.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Some AI models use simple feature sets that do not sufficiently represent cascade dependencies and operating conditions.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Chapter 3: Research Design and Workflow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The study follows a quantitative, data-driven forecasting design.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Workflow: data cleaning, feature engineering, model training, validation/testing, benchmark comparison, and day-ahead forecasting.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Models are trained using chronological time-series data to preserve real forecasting order.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Outputs include performance metrics, forecast plots, benchmark comparisons, and day-ahead forecasts.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Data Collection and Processing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Historical operational and environmental data were organized into hourly records.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Data cleaning handled inconsistent headers, date-time alignment, numeric conversion, missing values, near-zero values, short zero runs, and spikes.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Plant-level generation was recalculated from cleaned unit-level generation values.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Unit outage states were converted into binary availability indicators.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Feature Engineering and Dataset Split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Input features include temporal indicators, lagged generation values, rolling statistics, generation differences, hydrologic variables, gate/elevation variables, and unit availability.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Cascade-aware upstream generation features were included based on plant order.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final cleaned dataset contains 13,128 hourly rows and 55 columns.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Chronological split: 70% training, 15% validation, and 15% testing.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Testing period represents unseen data from April 11, 2025 to June 30, 2025.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RBFNN Model Development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024128"/>
            <a:ext cx="10744200" cy="5138928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24128" y="1298448"/>
            <a:ext cx="10104120" cy="4526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One RBFNN model was developed for each Agus plant, with one output neuron per model.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The model uses radial basis functions to represent nonlinear operating regimes.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A residual or delta formulation predicts generation changes relative to current output.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Tuned settings included the number of RBF centers, learning rate, and shrinkage value.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RBF spreads were represented by trainable gamma values, initialized at 1.0 and learned during training.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Training used standardized variables, Adam optimizer, Mean Squared Error loss, and early stopping.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Benchmark Models and Evaluation Metrics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Benchmark models: Random Forest and XGBoost.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Metrics used: MAPE, MAE, RMSE, and R2.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MAPE measures relative percentage error and is easy to interpret for forecasting accuracy.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MAE and RMSE measure error magnitude in MW, with RMSE penalizing larger errors more strongly.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R2 measures how well the model explains generation variability.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Chapter 4: Dataset Overview and Cleaned Data Results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The processed dataset provides complete hourly records for the modeled Agus plants.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Cleaned generation profiles preserve real operating patterns while reducing data quality issues.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The prepared dataset supports plant-level model training and total cascade assessment.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Input variables combine generation history, availability, hydrologic signals, and temporal patterns.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RBFNN Validation Results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Average validation performance for the Agus cascade: MAPE 2.615%, MAE 1.633 MW, RMSE 3.789 MW, R2 0.878.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Training and validation loss curves showed rapid early convergence followed by stable behavior.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Validation loss remained slightly higher than training loss, which is expected for unseen data.</a:t>
            </a:r>
          </a:p>
          <a:p>
            <a:pPr marL="342900" indent="-228600">
              <a:buChar char="?"/>
            </a:pPr>
            <a:r>
              <a:rPr lang="en-US" sz="2000">
                <a:solidFill>
                  <a:srgbClr val="243042"/>
                </a:solidFill>
              </a:rPr>
              <a:t>No severe overfitting was observed because the train-validation gap stayed small and stable.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RBFNN Testing Performance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Overall testing performance: MAPE 2.519%, MAE 1.355 MW, RMSE 3.575 MW, R2 0.925.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Plant-level testing MAPE: Agus 1 = 3.476%, Agus 2 = 1.372%, Agus 4 = 0.611%, Agus 5 = 4.040%, Agus 6 = 1.405%, Agus 7 = 4.209%.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All plants remained below 10% MAPE.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Agus 4 had the lowest MAPE, while Agus 7 showed higher variability.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Actual vs Forecast and Error Analysis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Forecast curves closely followed actual generation patterns during the testing period.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The model captured both timing and magnitude of short-term changes.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Scatter and residual analyses showed strong agreement between actual and predicted values.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Mean residual was near zero, indicating no strong systematic overprediction or underprediction.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Benchmark Model Comparison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RBFNN achieved the lowest overall testing MAPE at 2.519%.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Random Forest achieved 5.864% overall testing MAPE.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XGBoost achieved 8.876% overall testing MAPE.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RBFNN also produced lower MAE and RMSE than the benchmark models.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The advantage was especially visible under complex operating behavior such as Agus 6.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Day-Ahead Forecast and GUI Implementation</a:t>
            </a:r>
          </a:p>
        </p:txBody>
      </p:sp>
      <p:sp>
        <p:nvSpPr>
          <p:cNvPr id="5" name="Panel"/>
          <p:cNvSpPr/>
          <p:nvPr/>
        </p:nvSpPr>
        <p:spPr>
          <a:xfrm>
            <a:off x="502920" y="1005840"/>
            <a:ext cx="5486400" cy="52578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749808" y="1234440"/>
            <a:ext cx="4956048" cy="4617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The final system generates hourly day-ahead forecasts using the trained RBFNN models.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Planned unit outage schedules are included as operational inputs.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Forecast outputs support plant-level and total cascade generation planning.</a:t>
            </a:r>
          </a:p>
          <a:p>
            <a:pPr marL="342900" indent="-228600">
              <a:buChar char="?"/>
            </a:pPr>
            <a:r>
              <a:rPr lang="en-US" sz="1500">
                <a:solidFill>
                  <a:srgbClr val="243042"/>
                </a:solidFill>
              </a:rPr>
              <a:t>A dashboard interface was implemented to make the forecasting workflow easier to use and review.</a:t>
            </a:r>
          </a:p>
        </p:txBody>
      </p:sp>
      <p:sp>
        <p:nvSpPr>
          <p:cNvPr id="7" name="Panel"/>
          <p:cNvSpPr/>
          <p:nvPr/>
        </p:nvSpPr>
        <p:spPr>
          <a:xfrm>
            <a:off x="6199632" y="1005840"/>
            <a:ext cx="5440680" cy="525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Slide fig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325880"/>
            <a:ext cx="4983480" cy="4343400"/>
          </a:xfrm>
          <a:prstGeom prst="rect">
            <a:avLst/>
          </a:prstGeom>
        </p:spPr>
      </p:pic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Chapter 5: Conclusions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study successfully developed an AI-based RBFNN framework for short-term Agus cascade generation forecasting.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cleaned and engineered dataset enabled reliable model training from historical operational data.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RBFNN achieved accurate testing performance with 2.519% average MAPE and R2 of 0.925.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proposed model outperformed Random Forest and XGBoost benchmark models.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The framework is suitable as a decision-support tool for day-ahead capacity nomination and short-term planning.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Recommendations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143000"/>
            <a:ext cx="10744200" cy="4800600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51560" y="1508760"/>
            <a:ext cx="1005840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Continuously update the model as new operational and hydrologic data become available.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Improve data completeness and consistency for rainfall, flows, gate operations, and unit availability.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Test the framework under more operating conditions, including unusual hydrologic events and outage scenarios.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Explore additional hybrid or optimized AI models for future comparison.</a:t>
            </a:r>
          </a:p>
          <a:p>
            <a:pPr marL="342900" indent="-228600">
              <a:buChar char="?"/>
            </a:pPr>
            <a:r>
              <a:rPr lang="en-US" sz="1800">
                <a:solidFill>
                  <a:srgbClr val="243042"/>
                </a:solidFill>
              </a:rPr>
              <a:t>Integrate the forecasting tool further into operational planning workflows for capacity nomination support.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nel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itle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F4E79"/>
                </a:solidFill>
              </a:rPr>
              <a:t>Feature Engineering Inputs</a:t>
            </a:r>
          </a:p>
        </p:txBody>
      </p:sp>
      <p:sp>
        <p:nvSpPr>
          <p:cNvPr id="5" name="Panel"/>
          <p:cNvSpPr/>
          <p:nvPr/>
        </p:nvSpPr>
        <p:spPr>
          <a:xfrm>
            <a:off x="731520" y="1024128"/>
            <a:ext cx="10744200" cy="5138928"/>
          </a:xfrm>
          <a:prstGeom prst="rect">
            <a:avLst/>
          </a:prstGeom>
          <a:solidFill>
            <a:srgbClr val="F8FAFC"/>
          </a:solidFill>
          <a:ln w="952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Bullets"/>
          <p:cNvSpPr txBox="1"/>
          <p:nvPr/>
        </p:nvSpPr>
        <p:spPr>
          <a:xfrm>
            <a:off x="1024128" y="1298448"/>
            <a:ext cx="10104120" cy="4526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Temporal features help the model learn hourly, weekly, monthly, weekend, and target-hour patterns.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Lag features use previous generation values, such as 1 hour, 24 hours, and 168 hours before the forecast.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Rolling features summarize recent behavior using moving mean, standard deviation, minimum, and maximum values.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Outage features show unit availability and number of running units, which limit possible generation.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Hydrologic features represent water-related conditions such as rainfall, outflow, elevation, gate, and spillway variables.</a:t>
            </a:r>
          </a:p>
          <a:p>
            <a:pPr marL="342900" indent="-228600">
              <a:buChar char="?"/>
            </a:pPr>
            <a:r>
              <a:rPr lang="en-US" sz="1600">
                <a:solidFill>
                  <a:srgbClr val="243042"/>
                </a:solidFill>
              </a:rPr>
              <a:t>Upstream cascade features help downstream plants account for upstream generation and water-release effects.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 b="0">
                <a:solidFill>
                  <a:srgbClr val="64748B"/>
                </a:solidFill>
              </a:rPr>
              <a:t>AI-Based Hydro Forecasting | Slide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">
  <a:themeElements>
    <a:clrScheme name="Academic">
      <a:dk1>
        <a:srgbClr val="1F2937"/>
      </a:dk1>
      <a:lt1>
        <a:srgbClr val="FFFFFF"/>
      </a:lt1>
      <a:dk2>
        <a:srgbClr val="243042"/>
      </a:dk2>
      <a:lt2>
        <a:srgbClr val="F8FAFC"/>
      </a:lt2>
      <a:accent1>
        <a:srgbClr val="1F4E79"/>
      </a:accent1>
      <a:accent2>
        <a:srgbClr val="3C7A57"/>
      </a:accent2>
      <a:accent3>
        <a:srgbClr val="B45309"/>
      </a:accent3>
      <a:accent4>
        <a:srgbClr val="7C3AED"/>
      </a:accent4>
      <a:accent5>
        <a:srgbClr val="0F766E"/>
      </a:accent5>
      <a:accent6>
        <a:srgbClr val="BE123C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23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Hydro Forecasting Defense</dc:title>
  <dc:creator>OpenAI Codex</dc:creator>
  <cp:lastModifiedBy>OpenAI Codex</cp:lastModifiedBy>
</cp:coreProperties>
</file>